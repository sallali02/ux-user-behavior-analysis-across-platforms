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1860CE-931C-4E39-A659-9F1FFECED3CB}">
  <a:tblStyle styleId="{F71860CE-931C-4E39-A659-9F1FFECED3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4ab792e1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4ab792e1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23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6742955" cy="9926325"/>
          </a:xfrm>
          <a:custGeom>
            <a:rect b="b" l="l" r="r" t="t"/>
            <a:pathLst>
              <a:path extrusionOk="0" h="11575889" w="11575889">
                <a:moveTo>
                  <a:pt x="0" y="0"/>
                </a:moveTo>
                <a:lnTo>
                  <a:pt x="11575890" y="0"/>
                </a:lnTo>
                <a:lnTo>
                  <a:pt x="11575890" y="11575890"/>
                </a:lnTo>
                <a:lnTo>
                  <a:pt x="0" y="11575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3"/>
          <p:cNvGrpSpPr/>
          <p:nvPr/>
        </p:nvGrpSpPr>
        <p:grpSpPr>
          <a:xfrm>
            <a:off x="7118125" y="3485250"/>
            <a:ext cx="10250100" cy="5864400"/>
            <a:chOff x="861565" y="-9516"/>
            <a:chExt cx="13666800" cy="781920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861565" y="-9516"/>
              <a:ext cx="13666800" cy="78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6000">
                  <a:solidFill>
                    <a:srgbClr val="B3E4C5"/>
                  </a:solidFill>
                </a:rPr>
                <a:t>Exploring User Behavior in UI/UX Across Digital Platforms</a:t>
              </a:r>
              <a:endParaRPr b="1" sz="6000">
                <a:solidFill>
                  <a:srgbClr val="B3E4C5"/>
                </a:solidFill>
              </a:endParaRPr>
            </a:p>
            <a:p>
              <a:pPr indent="0" lvl="0" marL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6000">
                <a:solidFill>
                  <a:srgbClr val="B3E4C5"/>
                </a:solidFill>
              </a:endParaRPr>
            </a:p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99">
                <a:solidFill>
                  <a:srgbClr val="B3E4C5"/>
                </a:solidFill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1282000" y="4433800"/>
              <a:ext cx="9874800" cy="51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5">
                  <a:solidFill>
                    <a:srgbClr val="B3E4C5"/>
                  </a:solidFill>
                </a:rPr>
                <a:t>Sara Allali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867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 rot="10800000">
            <a:off x="52609" y="3315780"/>
            <a:ext cx="8025716" cy="4838470"/>
          </a:xfrm>
          <a:custGeom>
            <a:rect b="b" l="l" r="r" t="t"/>
            <a:pathLst>
              <a:path extrusionOk="0" h="4838470" w="8448122">
                <a:moveTo>
                  <a:pt x="0" y="0"/>
                </a:moveTo>
                <a:lnTo>
                  <a:pt x="8448121" y="0"/>
                </a:lnTo>
                <a:lnTo>
                  <a:pt x="8448121" y="4838469"/>
                </a:lnTo>
                <a:lnTo>
                  <a:pt x="0" y="4838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4"/>
          <p:cNvSpPr/>
          <p:nvPr/>
        </p:nvSpPr>
        <p:spPr>
          <a:xfrm>
            <a:off x="5664327" y="5031842"/>
            <a:ext cx="223315" cy="22331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B3E4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35969" y="845183"/>
            <a:ext cx="81153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B3E4C5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604483" y="4604678"/>
            <a:ext cx="223315" cy="22331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B3E4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773394" y="6507711"/>
            <a:ext cx="223315" cy="22331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B3E4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565981" y="3946063"/>
            <a:ext cx="223315" cy="22331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B3E4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404125" y="2804738"/>
            <a:ext cx="76464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Goals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 1: Accessibility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 2: Engagement Features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 3: Platform Differences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 4: UX Improvement Opportunities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3E4C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69675" y="790575"/>
            <a:ext cx="12615300" cy="28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54" u="none" cap="none" strike="noStrike">
                <a:solidFill>
                  <a:srgbClr val="0B4236"/>
                </a:solidFill>
                <a:latin typeface="Arial"/>
                <a:ea typeface="Arial"/>
                <a:cs typeface="Arial"/>
                <a:sym typeface="Arial"/>
              </a:rPr>
              <a:t>Challenges </a:t>
            </a:r>
            <a:endParaRPr/>
          </a:p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54" u="none" cap="none" strike="noStrike">
                <a:solidFill>
                  <a:srgbClr val="0B4236"/>
                </a:solidFill>
                <a:latin typeface="Arial"/>
                <a:ea typeface="Arial"/>
                <a:cs typeface="Arial"/>
                <a:sym typeface="Arial"/>
              </a:rPr>
              <a:t>and Objectives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0" y="8024648"/>
            <a:ext cx="18287923" cy="2249335"/>
          </a:xfrm>
          <a:custGeom>
            <a:rect b="b" l="l" r="r" t="t"/>
            <a:pathLst>
              <a:path extrusionOk="0" h="11996451" w="21327024">
                <a:moveTo>
                  <a:pt x="0" y="0"/>
                </a:moveTo>
                <a:lnTo>
                  <a:pt x="21327025" y="0"/>
                </a:lnTo>
                <a:lnTo>
                  <a:pt x="21327025" y="11996451"/>
                </a:lnTo>
                <a:lnTo>
                  <a:pt x="0" y="119964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5"/>
          <p:cNvSpPr txBox="1"/>
          <p:nvPr/>
        </p:nvSpPr>
        <p:spPr>
          <a:xfrm>
            <a:off x="1915500" y="4225150"/>
            <a:ext cx="8533200" cy="4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how different UI/UX elements impact overall user experience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which design components contribute to positive vs negative interactions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data-driven insights to recommend improvements in user-centered design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2000" y="2839950"/>
            <a:ext cx="588645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23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1028700" y="1298325"/>
            <a:ext cx="87948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>
                <a:solidFill>
                  <a:srgbClr val="B3E4C5"/>
                </a:solidFill>
              </a:rPr>
              <a:t>Data Overview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3246973" y="7141774"/>
            <a:ext cx="5035512" cy="3154430"/>
          </a:xfrm>
          <a:custGeom>
            <a:rect b="b" l="l" r="r" t="t"/>
            <a:pathLst>
              <a:path extrusionOk="0" h="11575889" w="11575889">
                <a:moveTo>
                  <a:pt x="0" y="0"/>
                </a:moveTo>
                <a:lnTo>
                  <a:pt x="11575890" y="0"/>
                </a:lnTo>
                <a:lnTo>
                  <a:pt x="11575890" y="11575889"/>
                </a:lnTo>
                <a:lnTo>
                  <a:pt x="0" y="11575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6"/>
          <p:cNvSpPr txBox="1"/>
          <p:nvPr/>
        </p:nvSpPr>
        <p:spPr>
          <a:xfrm>
            <a:off x="654275" y="2609200"/>
            <a:ext cx="8139000" cy="7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B3E4C5"/>
              </a:buClr>
              <a:buSzPts val="3000"/>
              <a:buChar char="●"/>
            </a:pPr>
            <a:r>
              <a:rPr lang="en-US" sz="3000">
                <a:solidFill>
                  <a:srgbClr val="B3E4C5"/>
                </a:solidFill>
              </a:rPr>
              <a:t>Dataset of 2,271 users analyzing UI/UX preferences and experiences</a:t>
            </a:r>
            <a:endParaRPr sz="3000">
              <a:solidFill>
                <a:srgbClr val="B3E4C5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B3E4C5"/>
              </a:buClr>
              <a:buSzPts val="3000"/>
              <a:buChar char="●"/>
            </a:pPr>
            <a:r>
              <a:rPr lang="en-US" sz="3000">
                <a:solidFill>
                  <a:srgbClr val="B3E4C5"/>
                </a:solidFill>
              </a:rPr>
              <a:t>Includes:</a:t>
            </a:r>
            <a:endParaRPr sz="3000">
              <a:solidFill>
                <a:srgbClr val="B3E4C5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3E4C5"/>
              </a:buClr>
              <a:buSzPts val="3000"/>
              <a:buChar char="●"/>
            </a:pPr>
            <a:r>
              <a:rPr lang="en-US" sz="3000">
                <a:solidFill>
                  <a:srgbClr val="B3E4C5"/>
                </a:solidFill>
              </a:rPr>
              <a:t>Demographics (age, gender)</a:t>
            </a:r>
            <a:endParaRPr sz="3000">
              <a:solidFill>
                <a:srgbClr val="B3E4C5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3E4C5"/>
              </a:buClr>
              <a:buSzPts val="3000"/>
              <a:buChar char="●"/>
            </a:pPr>
            <a:r>
              <a:rPr lang="en-US" sz="3000">
                <a:solidFill>
                  <a:srgbClr val="B3E4C5"/>
                </a:solidFill>
              </a:rPr>
              <a:t>Platform usage (e.g., Instagram, YouTube, Website)</a:t>
            </a:r>
            <a:endParaRPr sz="3000">
              <a:solidFill>
                <a:srgbClr val="B3E4C5"/>
              </a:solidFill>
            </a:endParaRPr>
          </a:p>
          <a:p>
            <a:pPr indent="-419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3E4C5"/>
              </a:buClr>
              <a:buSzPts val="3000"/>
              <a:buChar char="●"/>
            </a:pPr>
            <a:r>
              <a:rPr lang="en-US" sz="3000">
                <a:solidFill>
                  <a:srgbClr val="B3E4C5"/>
                </a:solidFill>
              </a:rPr>
              <a:t>Ratings (1–5) for UI/UX components (layout, accessibility, loading speed, etc.)</a:t>
            </a:r>
            <a:endParaRPr sz="3000">
              <a:solidFill>
                <a:srgbClr val="B3E4C5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3E4C5"/>
              </a:buClr>
              <a:buSzPts val="3000"/>
              <a:buChar char="●"/>
            </a:pPr>
            <a:r>
              <a:rPr lang="en-US" sz="3000">
                <a:solidFill>
                  <a:srgbClr val="B3E4C5"/>
                </a:solidFill>
              </a:rPr>
              <a:t>User experience categorized into </a:t>
            </a:r>
            <a:r>
              <a:rPr b="1" lang="en-US" sz="3000">
                <a:solidFill>
                  <a:srgbClr val="B3E4C5"/>
                </a:solidFill>
              </a:rPr>
              <a:t>Positive, Neutral, and Negative</a:t>
            </a:r>
            <a:r>
              <a:rPr lang="en-US" sz="3000">
                <a:solidFill>
                  <a:srgbClr val="B3E4C5"/>
                </a:solidFill>
              </a:rPr>
              <a:t> for analysis</a:t>
            </a:r>
            <a:endParaRPr sz="3000">
              <a:solidFill>
                <a:srgbClr val="B3E4C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79615" y="1692675"/>
            <a:ext cx="4390485" cy="91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3E4C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378375" y="368850"/>
            <a:ext cx="1097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B4236"/>
                </a:solidFill>
              </a:rPr>
              <a:t>Insight 1 — Accessibility Issues</a:t>
            </a:r>
            <a:endParaRPr sz="6000"/>
          </a:p>
        </p:txBody>
      </p:sp>
      <p:sp>
        <p:nvSpPr>
          <p:cNvPr id="120" name="Google Shape;120;p17"/>
          <p:cNvSpPr/>
          <p:nvPr/>
        </p:nvSpPr>
        <p:spPr>
          <a:xfrm>
            <a:off x="11749250" y="2275"/>
            <a:ext cx="6538082" cy="10282469"/>
          </a:xfrm>
          <a:custGeom>
            <a:rect b="b" l="l" r="r" t="t"/>
            <a:pathLst>
              <a:path extrusionOk="0" h="3752726" w="3335756">
                <a:moveTo>
                  <a:pt x="0" y="0"/>
                </a:moveTo>
                <a:lnTo>
                  <a:pt x="3335756" y="0"/>
                </a:lnTo>
                <a:lnTo>
                  <a:pt x="3335756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aphicFrame>
        <p:nvGraphicFramePr>
          <p:cNvPr id="121" name="Google Shape;121;p17"/>
          <p:cNvGraphicFramePr/>
          <p:nvPr/>
        </p:nvGraphicFramePr>
        <p:xfrm>
          <a:off x="796775" y="28586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{F71860CE-931C-4E39-A659-9F1FFECED3CB}</a:tableStyleId>
              </a:tblPr>
              <a:tblGrid>
                <a:gridCol w="3274950"/>
                <a:gridCol w="3274950"/>
                <a:gridCol w="3590000"/>
              </a:tblGrid>
              <a:tr h="15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Insight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What this means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Recommendation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</a:tr>
              <a:tr h="4527075">
                <a:tc>
                  <a:txBody>
                    <a:bodyPr/>
                    <a:lstStyle/>
                    <a:p>
                      <a:pPr indent="-262255" lvl="1" marL="410213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300"/>
                        <a:t>Accessibility showed the strongest negative difference between positive and negative user experiences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62255" lvl="1" marL="410213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300"/>
                        <a:t>Poor accessibility is a major driver of user frustration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62255" lvl="1" marL="410213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300"/>
                        <a:t>Poor accessibility is a major driver of user frustration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7700" y="3015150"/>
            <a:ext cx="6390302" cy="359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867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645600" y="290000"/>
            <a:ext cx="156561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B3E4C5"/>
                </a:solidFill>
              </a:rPr>
              <a:t>Insight 2 — Engagement Features Drive Positive UX</a:t>
            </a:r>
            <a:endParaRPr sz="6000"/>
          </a:p>
        </p:txBody>
      </p:sp>
      <p:graphicFrame>
        <p:nvGraphicFramePr>
          <p:cNvPr id="128" name="Google Shape;128;p18"/>
          <p:cNvGraphicFramePr/>
          <p:nvPr/>
        </p:nvGraphicFramePr>
        <p:xfrm>
          <a:off x="645600" y="2681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{F71860CE-931C-4E39-A659-9F1FFECED3CB}</a:tableStyleId>
              </a:tblPr>
              <a:tblGrid>
                <a:gridCol w="3211300"/>
                <a:gridCol w="3211300"/>
                <a:gridCol w="3520225"/>
              </a:tblGrid>
              <a:tr h="131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Insight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What this means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Recommendation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</a:tr>
              <a:tr h="5295675">
                <a:tc>
                  <a:txBody>
                    <a:bodyPr/>
                    <a:lstStyle/>
                    <a:p>
                      <a:pPr indent="-262255" lvl="1" marL="410213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300"/>
                        <a:t>Features like call-to-action buttons, animations, and scrolling behavior are associated with more positive experiences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746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2300"/>
                        <a:buChar char="●"/>
                      </a:pPr>
                      <a:r>
                        <a:rPr lang="en-US" sz="2300"/>
                        <a:t>Interactive and engaging elements enhance usability and satisfaction </a:t>
                      </a:r>
                      <a:endParaRPr sz="2300"/>
                    </a:p>
                    <a:p>
                      <a:pPr indent="0" lvl="0" marL="914400" marR="0" rtl="0" algn="l">
                        <a:lnSpc>
                          <a:spcPct val="1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406400" lvl="1" marL="9144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Char char="•"/>
                      </a:pPr>
                      <a:r>
                        <a:rPr lang="en-US" sz="2300"/>
                        <a:t>Optimize CTA visibility and clarity</a:t>
                      </a:r>
                      <a:endParaRPr sz="2300"/>
                    </a:p>
                    <a:p>
                      <a:pPr indent="-406400" lvl="1" marL="9144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Char char="•"/>
                      </a:pPr>
                      <a:r>
                        <a:rPr lang="en-US" sz="2300"/>
                        <a:t>Use animations intentionally to guide user interaction</a:t>
                      </a:r>
                      <a:endParaRPr sz="2300"/>
                    </a:p>
                    <a:p>
                      <a:pPr indent="-406400" lvl="1" marL="9144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Char char="•"/>
                      </a:pPr>
                      <a:r>
                        <a:rPr lang="en-US" sz="2300"/>
                        <a:t>Maintain smooth and intuitive scrolling experiences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4500" y="2474000"/>
            <a:ext cx="7411101" cy="553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236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/>
        </p:nvSpPr>
        <p:spPr>
          <a:xfrm>
            <a:off x="1265175" y="588875"/>
            <a:ext cx="14780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>
                <a:solidFill>
                  <a:srgbClr val="B3E4C5"/>
                </a:solidFill>
              </a:rPr>
              <a:t>Insight 3 — Platform Differences in UX</a:t>
            </a:r>
            <a:endParaRPr/>
          </a:p>
        </p:txBody>
      </p:sp>
      <p:graphicFrame>
        <p:nvGraphicFramePr>
          <p:cNvPr id="135" name="Google Shape;135;p19"/>
          <p:cNvGraphicFramePr/>
          <p:nvPr/>
        </p:nvGraphicFramePr>
        <p:xfrm>
          <a:off x="1098875" y="2267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{F71860CE-931C-4E39-A659-9F1FFECED3CB}</a:tableStyleId>
              </a:tblPr>
              <a:tblGrid>
                <a:gridCol w="3625025"/>
                <a:gridCol w="3388550"/>
                <a:gridCol w="4210225"/>
              </a:tblGrid>
              <a:tr h="15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Insight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What this means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0B4236"/>
                          </a:solidFill>
                        </a:rPr>
                        <a:t>Recommendation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4C5"/>
                    </a:solidFill>
                  </a:tcPr>
                </a:tc>
              </a:tr>
              <a:tr h="4527075">
                <a:tc>
                  <a:txBody>
                    <a:bodyPr/>
                    <a:lstStyle/>
                    <a:p>
                      <a:pPr indent="-262255" lvl="1" marL="410213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Font typeface="Arial"/>
                        <a:buChar char="•"/>
                      </a:pPr>
                      <a:r>
                        <a:rPr lang="en-US" sz="2300"/>
                        <a:t>Platforms like YouTube and Facebook show higher positive experiences, while others show relatively higher negative rates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37465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2300"/>
                        <a:buChar char="●"/>
                      </a:pPr>
                      <a:r>
                        <a:rPr lang="en-US" sz="2300"/>
                        <a:t>UX effectiveness varies across platforms </a:t>
                      </a:r>
                      <a:endParaRPr sz="2300"/>
                    </a:p>
                    <a:p>
                      <a:pPr indent="0" lvl="0" marL="914400" marR="0" rtl="0" algn="l">
                        <a:lnSpc>
                          <a:spcPct val="1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406400" lvl="1" marL="9144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Char char="•"/>
                      </a:pPr>
                      <a:r>
                        <a:rPr lang="en-US" sz="2300"/>
                        <a:t>Analyze platform-specific design patterns</a:t>
                      </a:r>
                      <a:endParaRPr sz="2300"/>
                    </a:p>
                    <a:p>
                      <a:pPr indent="-406400" lvl="1" marL="9144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Char char="•"/>
                      </a:pPr>
                      <a:r>
                        <a:rPr lang="en-US" sz="2300"/>
                        <a:t>Apply best practices from higher-performing platforms</a:t>
                      </a:r>
                      <a:endParaRPr sz="2300"/>
                    </a:p>
                    <a:p>
                      <a:pPr indent="-406400" lvl="1" marL="91440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4236"/>
                        </a:buClr>
                        <a:buSzPts val="2800"/>
                        <a:buChar char="•"/>
                      </a:pPr>
                      <a:r>
                        <a:rPr lang="en-US" sz="2300"/>
                        <a:t>Tailor UX improvements based on platform behavior</a:t>
                      </a:r>
                      <a:endParaRPr sz="2300"/>
                    </a:p>
                  </a:txBody>
                  <a:tcPr marT="190500" marB="190500" marR="190500" marL="190500">
                    <a:lnL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B42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9"/>
          <p:cNvSpPr/>
          <p:nvPr/>
        </p:nvSpPr>
        <p:spPr>
          <a:xfrm rot="-2793733">
            <a:off x="12297308" y="3180966"/>
            <a:ext cx="5834370" cy="3252291"/>
          </a:xfrm>
          <a:custGeom>
            <a:rect b="b" l="l" r="r" t="t"/>
            <a:pathLst>
              <a:path extrusionOk="0" h="7825354" w="14996323">
                <a:moveTo>
                  <a:pt x="0" y="0"/>
                </a:moveTo>
                <a:lnTo>
                  <a:pt x="14996323" y="0"/>
                </a:lnTo>
                <a:lnTo>
                  <a:pt x="14996323" y="7825353"/>
                </a:lnTo>
                <a:lnTo>
                  <a:pt x="0" y="7825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3E4C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0"/>
          <p:cNvCxnSpPr/>
          <p:nvPr/>
        </p:nvCxnSpPr>
        <p:spPr>
          <a:xfrm rot="-5400000">
            <a:off x="1792016" y="5146282"/>
            <a:ext cx="10257527" cy="0"/>
          </a:xfrm>
          <a:prstGeom prst="straightConnector1">
            <a:avLst/>
          </a:prstGeom>
          <a:noFill/>
          <a:ln cap="rnd" cmpd="sng" w="9525">
            <a:solidFill>
              <a:srgbClr val="0B4236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20"/>
          <p:cNvSpPr/>
          <p:nvPr/>
        </p:nvSpPr>
        <p:spPr>
          <a:xfrm>
            <a:off x="0" y="0"/>
            <a:ext cx="6916013" cy="10287003"/>
          </a:xfrm>
          <a:custGeom>
            <a:rect b="b" l="l" r="r" t="t"/>
            <a:pathLst>
              <a:path extrusionOk="0" h="3752726" w="2522981">
                <a:moveTo>
                  <a:pt x="0" y="0"/>
                </a:moveTo>
                <a:lnTo>
                  <a:pt x="2522981" y="0"/>
                </a:lnTo>
                <a:lnTo>
                  <a:pt x="2522981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0B4236"/>
          </a:solidFill>
          <a:ln>
            <a:noFill/>
          </a:ln>
        </p:spPr>
      </p:sp>
      <p:sp>
        <p:nvSpPr>
          <p:cNvPr id="143" name="Google Shape;143;p20"/>
          <p:cNvSpPr txBox="1"/>
          <p:nvPr/>
        </p:nvSpPr>
        <p:spPr>
          <a:xfrm>
            <a:off x="1028700" y="1019175"/>
            <a:ext cx="505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B3E4C5"/>
                </a:solidFill>
              </a:rPr>
              <a:t>Conclusion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7137825" y="1019175"/>
            <a:ext cx="10602300" cy="56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</a:rPr>
              <a:t>The majority of users reported positive experiences, but a significant portion faced usability challenges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</a:rPr>
              <a:t>Key issues such as </a:t>
            </a:r>
            <a:r>
              <a:rPr b="1" lang="en-US" sz="3000">
                <a:solidFill>
                  <a:schemeClr val="dk1"/>
                </a:solidFill>
              </a:rPr>
              <a:t>accessibility, visual design, and personalization</a:t>
            </a:r>
            <a:r>
              <a:rPr lang="en-US" sz="3000">
                <a:solidFill>
                  <a:schemeClr val="dk1"/>
                </a:solidFill>
              </a:rPr>
              <a:t> contribute to negative user experiences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</a:rPr>
              <a:t>Features like </a:t>
            </a:r>
            <a:r>
              <a:rPr b="1" lang="en-US" sz="3000">
                <a:solidFill>
                  <a:schemeClr val="dk1"/>
                </a:solidFill>
              </a:rPr>
              <a:t>CTA buttons, animations, and smooth interactions</a:t>
            </a:r>
            <a:r>
              <a:rPr lang="en-US" sz="3000">
                <a:solidFill>
                  <a:schemeClr val="dk1"/>
                </a:solidFill>
              </a:rPr>
              <a:t> are associated with more positive engagement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</a:rPr>
              <a:t>User experience is shaped by a combination of multiple design elements rather than a single factor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</a:rPr>
              <a:t>Data-driven insights can guide meaningful improvements in user-centered design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8180300" y="7882750"/>
            <a:ext cx="8280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i="1" lang="en-US" sz="3000">
                <a:solidFill>
                  <a:schemeClr val="dk1"/>
                </a:solidFill>
              </a:rPr>
              <a:t>Improving UX requires a balanced approach that prioritizes usability, accessibility, and engagement.</a:t>
            </a:r>
            <a:endParaRPr i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